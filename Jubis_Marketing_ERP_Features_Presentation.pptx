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572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3774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JUBIS MARKETING</a:t>
            </a:r>
          </a:p>
          <a:p>
            <a:pPr>
              <a:spcBef>
                <a:spcPts val="800"/>
              </a:spcBef>
              <a:defRPr sz="2400">
                <a:solidFill>
                  <a:srgbClr val="F59E0B"/>
                </a:solidFill>
                <a:latin typeface="Segoe UI"/>
              </a:defRPr>
            </a:pPr>
            <a:r>
              <a:t>Enterprise B2B ERP &amp; Client E-Commerce Portal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Comprehensive System Feature Architecture &amp; Operational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46320"/>
            <a:ext cx="9875520" cy="91440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9509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LIVE CLOUD PRODUCTION URL: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https://jubis-marketing-production-m2g1zm.laravel.cloud/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Bridging B2B Electrical Distribution &amp; Digital ERP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90429"/>
                </a:solidFill>
              </a:defRPr>
            </a:pPr>
            <a:r>
              <a:t>Traditional Industry Bottlenecks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Fragmented Quotations: B2B clients rely on manual phone calls, Viber chats, and paper RFQs for fluctuating electrical prices.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Phantom Stock &amp; Inventory Inaccuracy: High-SKU warehouses frequently suffer from overselling and unrecorded adjustments.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Delayed Invoicing &amp; Credit Reconciliation: Offline billing leads to friction in collecting receivables and tracking Net-30 credit.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Zero Logistics Traceability: Customers have no real-time visibility into whether wholesale deliveries are dispatched or in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The Integrated Jubis ERP Solution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Self-Service Client RFQ Portal: B2B buyers browse dynamic electrical catalogs, configure technical variants, and submit quotes directly.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Role-Based Departmental Automation: Dedicated workspaces for Sales, Finance, Purchasing, Warehouse, and Executive Super Admins.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Real-Time Immutable Inventory Audit: Live stock reservation upon quote approval and automatic PO stock increments.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Dual Settlement Engine: Digital checkout via PayMongo (GCash, Maya, Cards) and automated Net-30 credit terms for bulk orders.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Live Delivery &amp; Warranty Tracking: Built-in delivery tracking simulator and structured RMA (Return Merchandise Authorization)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Modern Multi-Tier Enterprise Cloud Architecture</a:t>
            </a:r>
          </a:p>
        </p:txBody>
      </p:sp>
      <p:pic>
        <p:nvPicPr>
          <p:cNvPr id="5" name="Picture 4" descr="diagram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022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GOVERNANCE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Departmental Role-Based Access Control (RBAC)</a:t>
            </a:r>
          </a:p>
        </p:txBody>
      </p:sp>
      <p:pic>
        <p:nvPicPr>
          <p:cNvPr id="5" name="Picture 4" descr="diagram_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0222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Complete Enterprise Lifecycle: From Catalog to Delivery</a:t>
            </a:r>
          </a:p>
        </p:txBody>
      </p:sp>
      <p:pic>
        <p:nvPicPr>
          <p:cNvPr id="5" name="Picture 4" descr="diagra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4022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Product Discovery, Smart Search &amp; Faceted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E-Commerce Catalog Capabilities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Real-Time Keyword Search: Instant search across thousands of SKUs, brand names, and technical product descriptions with URL query synchronization.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Multi-Faceted Category Filter: Filter through Wire &amp; Cables, Control Components, Circuit Protection, Lighting, Industrial Connectors, and Hardware.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Brand Priority Sorting: Intelligent catalog ranking prioritizing strategic partners (OMNI, Jubis, Schneider Electric, Phelps Dodge, Fuji, Philips).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Live Inventory Status Indicators: Real-time badge display ('In Stock', 'Out of Stock') preventing client frustration before quote generation.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Corporate Storytelling &amp; Inquiries: Dedicated About Us CMS and Contact Inquiry form with throttled mail notifications to Jubis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HN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17373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Phelps Dodge THHN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Building Wire</a:t>
            </a:r>
            <a:br/>
            <a:r>
              <a:t>High-spec industrial cable with nylon jacket.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977639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D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4251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Philips LED Fixture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Commercial Lighting</a:t>
            </a:r>
            <a:br/>
            <a:r>
              <a:t>Energy-efficient industrial bulb &amp; ceiling luminaires.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Engineering Specifications &amp; Dynamic Variant Selector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Engineering-Grade Product Detail Pages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Comprehensive Spec Sheets: Dedicated parameter tables for electrical engineers (Voltage, Amperage, Wire Gauge, Phase, Certifications).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Dynamic Variant Switching: Switch between package types, coil voltages, pole counts, and sizes without full page reloads.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Tiered Wholesale Pricing: Transparent unit wholesale rates with dynamic volume calculations for large-scale engineering contractors.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Stock Availability Verification: Checks specific SKU variant warehouse counts to ensure fulfillment readiness.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Related Product Carousel: Recommends matching components (e.g. matching circuit breaker enclosures, lugs, or contactor auxiliary relays).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gneticcontr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17373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Fuji Magnetic Contactor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Industrial Control</a:t>
            </a:r>
            <a:br/>
            <a:r>
              <a:t>32A 220V heavy-duty motor starter switch.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977639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uitbre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4251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Schneider Breaker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Circuit Protection</a:t>
            </a:r>
            <a:br/>
            <a:r>
              <a:t>63A thermal-magnetic overload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Interactive RFQ Cart &amp; Wholesale Quote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B2B Request-For-Quote (RFQ) Model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B2B Quoting vs Consumer Checkout: Replaces rigid retail checkout with an RFQ cart designed for commercial negotiation and volume pricing.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Interactive Line Item Quantity Controls: Immediate subtotal recalculation, VAT estimation, and quantity validation against warehouse availability.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Custom Project Notes: Contractors can attach site delivery requirements, project reference codes, and billing instructions.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Inactive SKU Shield: Strict API guards ensure unlisted or discontinued products cannot be injected into the quotation cart.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Automatic Pipeline Routing: Submitting the cart automatically converts it from 'Draft' to 'Pending' in the Sales Department workbench.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ustrial S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17373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PCE Industrial Socket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Heavy-Duty Connector</a:t>
            </a:r>
            <a:br/>
            <a:r>
              <a:t>3-Pin 32A weatherproof socket assembly.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977639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lass F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4251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Bussman Glass Fuse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High-Voltage Protection</a:t>
            </a:r>
            <a:br/>
            <a:r>
              <a:t>Fast-acting 10A 250V overcurrent fuse.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Client Dashboard, Quote Statuses &amp; Order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Customer Dashboard Experience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Authenticated User Hub (/dashboard): Clients access active quotes, invoices, and shipment tracking in one consolidated screen.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Quote Lifecycle Status Badges:</a:t>
            </a:r>
            <a:br/>
            <a:r>
              <a:t>• Pending: Submitted, awaiting sales pricing review.</a:t>
            </a:r>
            <a:br/>
            <a:r>
              <a:t>• Reviewed: Sales has appraised and added custom discounts.</a:t>
            </a:r>
            <a:br/>
            <a:r>
              <a:t>• Approved: Officially finalized, unlocking invoice &amp; payment.</a:t>
            </a:r>
            <a:br/>
            <a:r>
              <a:t>• Rejected: Notification with inventory release.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Transparent Financial Overview: Shows total quoted values, VAT breakdowns, payment status, and due dates.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Order Historical Records: Permanent repository of past orders for repetitive corporate purchasing and procurement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90429"/>
                </a:solidFill>
              </a:defRPr>
            </a:pPr>
            <a:r>
              <a:t>Direct Client Action Triggers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Instant Invoice PDF Download: One-click export of official stamped Jubis Marketing PDF invoices for procurement documentation.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Online Payment Gateway: Click 'Pay Now' to launch the secure PayMongo digital payment interface.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Net-30 Credit Terms Activation: High-volume wholesale orders unlock Net-30 credit terms at the touch of a button.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Live Carrier Tracking: Track logistics delivery progress in real-time with dispatched carrier updates.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RMA Warranty Returns: Easily submit defective component return requests directly against specific invoice 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Dual Settlement Engine: PayMongo Gateway &amp; Net-30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PayMongo Digital Payments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Omnichannel Payment Options: Direct support for GCash, Maya, QR Ph, and Mastercard/Visa credit and debit cards.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Centavo-Accurate Float Calculations: Eliminates binary floating-point rounding errors when submitting payment totals.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Automated Payment Link Dispatch: Sales quote approval automatically generates a custom PayMongo checkout link.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Replay-Resistant Webhook Architecture: Payment callbacks are protected by HMAC-SHA256 signature and timestamp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Sandbox Payment Simulator: Built-in mock payment environment enabling real-time demonstration without live financial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Enterprise Net-30 Credit Terms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Volume-Based Eligibility Guard: Available exclusively to large wholesale purchases exceeding 1,000 units.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30-Day Automated Terms: Sets official invoice status to 'on_terms' and schedules automated 30-day receivable maturity.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Immediate Order Release: Clears invoices for immediate warehouse picking and shipping prior to cash settlement.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Anti-Tamper Status Guard: Prevents already paid invoices from being improperly reverted into credit terms.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AR Ledger Synchronization: Instantly records outstanding receivables in the Finance Department reporting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CLIENT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Real-Time Logistics Tracking &amp; Warranty RMA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Logistics Visibility &amp; Warranty Protection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Live Delivery Tracking Simulator (/api/mock/tracking/{id}): Full tracking page displaying dispatch time, assigned carrier, driver details, and current parcel location.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Lalamove Delivery Integration: Supports third-party courier APIs as well as in-house Jubis delivery fleet dispatch.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RMA Warranty Claims Workflow: Clients can initiate return merchandise requests directly against verified paid invoice lines.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Itemized Defect Categorization: Select from 'Defective Unit', 'Damaged in Transit', or 'Wrong Specification' with customer notes.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Atomic Database Rollback: Strict database transactions guarantee that partial line failures cleanly roll back parent RMA records without orphaned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eiling or Wall Exhaust 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30175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17373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Exhaust Ventilation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Ceiling &amp; Wall Fan</a:t>
            </a:r>
            <a:br/>
            <a:r>
              <a:t>Commercial ventilation fan with warranty protection.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977639"/>
            <a:ext cx="4023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utdoor electrical weatherproof 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114800"/>
            <a:ext cx="30175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42519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/>
            </a:pPr>
            <a:r>
              <a:t>Weatherproof Cover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Outdoor Electrical Box</a:t>
            </a:r>
            <a:br/>
            <a:r>
              <a:t>Heavy-duty IP65 weatherproof protective cover.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ADMIN ERP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Executive KPI Dashboard &amp; Real-Time Financial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137160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TOTAL REVENUE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PHP 2,450,800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Paid Invoice Settlements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137160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002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OUTSTANDING AR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PHP 640,250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Unpaid &amp; On-Terms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137160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002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PENDING QUOTES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14 Active RFQs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Awaiting Sales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14600" cy="137160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D90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00200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0429"/>
                </a:solidFill>
              </a:defRPr>
            </a:pPr>
            <a:r>
              <a:t>LOW STOCK SKUs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</a:defRPr>
            </a:pPr>
            <a:r>
              <a:t>8 Critical Items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Below Reorder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5257800" cy="320040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6-Month Revenue Analytics (Chart.js)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Dynamic Monthly Revenue Engine: Aggregates settled revenue across rolling 6-month cycles directly from the invoice ledger.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Cash Flow Visibility: Differentiates instant digital settlements from Net-30 receivables collection.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Interactive Chart.js Dashboard: Responsive chart component with hover tooltips and financial breakdown.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257800" cy="320040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0429"/>
                </a:solidFill>
              </a:defRPr>
            </a:pPr>
            <a:r>
              <a:t>Real-Time Actionable Feeds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Recent Quotations Stream: Immediate visibility into arriving RFQs with client company name and total line items.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Recent Invoices Feed: Real-time settlement monitoring for accounting staff with instant payment status pills.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Urgent Reorder Alert Table: Prioritized list of inventory items with quantities &lt; 20 units for instant PO generation.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ADMIN ERP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Inventory Control, Stock Movements &amp; CSV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Warehouse Inventory Management Workbench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Master Product Catalog Table: Complete oversight of 900+ SKUs across all electrical categories with pagination and search.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Active State Toggle: Instantly enable or disable products from appearing in the client-facing catalog.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Immutable Stock Movement Ledger (stock_movements): Every single inventory delta logs:</a:t>
            </a:r>
            <a:br/>
            <a:r>
              <a:t>• Exact quantity change (+ or -)</a:t>
            </a:r>
            <a:br/>
            <a:r>
              <a:t>• Actor User ID and staff role</a:t>
            </a:r>
            <a:br/>
            <a:r>
              <a:t>• Movement type ('purchase', 'adjustment', 'order')</a:t>
            </a:r>
            <a:br/>
            <a:r>
              <a:t>• Reference tag (e.g. PO-12, QUOTE-REJECT-5).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Safe CSV Inventory Export: Sanitized one-click CSV export shielding against spreadsheet formula injection attacks (prefixes '=', '+', '-', '@').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Zero Phantom Stock Guarantee: Reverting or rejecting quotes automatically restores warehouse stock with atomic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4023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nerated_lu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9164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411480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90429"/>
                </a:solidFill>
              </a:defRPr>
            </a:pPr>
            <a:r>
              <a:t>Granular SKU Control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Supports heavy industrial connectors, cables, transformers, and copper cable lugs with real-time warehouse count tracking and reorder limits.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ADMIN ERP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Supplier Directory &amp; Purchase Order (PO)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Supplier Directory Management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Centralized Vendor Profiles (/admin/suppliers): Comprehensive database of electrical manufacturers and component importers.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Supplier Compliance Metadata: Records official Tax Identification Number (TIN), corporate addresses, and primary sales contacts.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Direct Procurement Communications: Phone numbers and verified billing emails stored for automated replenishment requests.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Supplier Purchase Order History: Instant visibility into all past and active purchase orders linked to each vendor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Purchase Order (PO) Lifecycle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Multi-Line PO Workbench: Create purchase orders with multiple product SKUs, supplier unit costs, and delivery date commitments.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Lifecycle State Machine: Transitions cleanly through Draft ➔ Ordered ➔ Partially Received ➔ Received.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Automatic Stock Replenishment: Transitioning PO to 'Received' automatically increments physical warehouse stock and logs movement.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Negative Stock Prevention: If a received PO is reverted back to ordered, the system checks whether inventory is sufficient to prevent negative stock.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Real-Time Cost of Goods Tracking: Calculates exact landed cost per unit for accurate margin calculation.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ADMIN ERP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Sales Quotes, Financial Ledger &amp; Shipment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D90429"/>
                </a:solidFill>
              </a:defRPr>
            </a:pPr>
            <a:r>
              <a:t>Sales &amp; Quotes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Quote Review Queue: Inspect client RFQs with customer corporate details.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Wholesale Price Adjustments: Apply contractor discounts or custom shipping fees.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One-Click Approval: Automatically spawns official invoice, sets Net-30 date, and generates PayMongo link.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Stock Reservation Protection: Approving reserves stock; rejecting cleanly restores warehouse quantities.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Finance &amp; Invoicing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Comprehensive Invoice Ledger: Filter by unpaid, partially paid, paid, and overdue.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Manual Payment Logging: Post bank wire or cash checks with date and reference.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Overpayment Defense Guard: Automatically rejects payment attempts exceeding the outstanding balance.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VAT &amp; Tax Reporting (/admin/reports): Official breakdown of 12% output VAT, taxable sales, and exempt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463040"/>
            <a:ext cx="34290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Logistics &amp; Shipments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Order Fulfillment Queue: Shows all paid or credit-approved invoices ready for dispatch.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Carrier Allocation: Assign shipping carriers (Lalamove, In-House Jubis Trucks, 3PL).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Tracking Number Generation: Attaches unique tracking IDs accessible by clients.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Automated Delivery Mails: Changing shipment status to 'delivered' triggers automated delivery confirmation emails to client.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0429"/>
                </a:solidFill>
                <a:latin typeface="Segoe UI"/>
              </a:defRPr>
            </a:pPr>
            <a:r>
              <a:t>ADMIN GOVERNANCE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A1931"/>
                </a:solidFill>
                <a:latin typeface="Segoe UI"/>
              </a:defRPr>
            </a:pPr>
            <a:r>
              <a:t>System Configuration, Security Controls &amp; Release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A1931"/>
                </a:solidFill>
              </a:defRPr>
            </a:pPr>
            <a:r>
              <a:t>Enterprise System Administration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Company Profile Settings: Manage company legal name, official address, TIN, and contact details reflected on invoices.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Configurable VAT Engine: Dynamic VAT percentage configuration (default 12%) with decimal precision validation.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Strict Field Whitelisting: Rejects unknown secret fields (e.g. SMTP passwords) from ever being cached or exposed publicly.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Staff User Administration: Super Admins can add, edit roles, and assign departments across all employees.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Enterprise Security &amp; Quality Gates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100% Passed Release Gates: Comprehensive PHPUnit test suite validating all P0 &amp; P1 operational boundary cases.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Database Constraint Safeguards: Enforces strict unique constraints preventing duplicate invoices or shipments.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Replay-Resistant Webhook Verification: PayMongo webhooks validate HMAC signatures and reject stale requests (&gt;1 hour).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Role-Based Route Isolation: Granular middleware prevents privilege escalation between departments.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Cloud Handover &amp; System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</a:defRPr>
            </a:pPr>
            <a:r>
              <a:t>Cloud Production Hosting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Production URL:</a:t>
            </a:r>
            <a:br/>
            <a:r>
              <a:t>https://jubis-marketing-production-m2g1zm.laravel.cloud/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Infrastructure Provider: Laravel Cloud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Region: Asia Pacific (Singapore) Edge Network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Database Engine: MySQL 8.4 Enterprise Cluster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Features: SSL Automated Encryption, Edge CDN, Scale-to-Zero Compute &amp; Database Architecture.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Zero Downtime: Multi-session support allows multiple concurrent users to test across departments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Live Demonstration Agenda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1. Client Flow: Browse catalog, filter by OMNI / Phelps Dodge, and submit an RFQ cart.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2. Sales Review: Log in as Sales / CEO, review RFQ lines, adjust pricing, and approve quote.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3. Financial Settlement: Inspect generated invoice, trigger PayMongo simulation or Net-30 credit terms.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4. Warehouse &amp; Dispatch: Verify stock deduction and create a shipment with carrier tracking.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5. Client Tracking &amp; RMA: View live shipment tracking page and submit a warranty RMA return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